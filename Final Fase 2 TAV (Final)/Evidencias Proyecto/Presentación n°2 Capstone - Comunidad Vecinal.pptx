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Barlow Condense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1y9JE9tMCVS7fUdm8G3P6l9j0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5B141C-6965-485A-BB58-7E8DC0F112A9}">
  <a:tblStyle styleId="{8C5B141C-6965-485A-BB58-7E8DC0F112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BarlowCondensed-boldItalic.fntdata"/><Relationship Id="rId10" Type="http://schemas.openxmlformats.org/officeDocument/2006/relationships/slide" Target="slides/slide4.xml"/><Relationship Id="rId21" Type="http://schemas.openxmlformats.org/officeDocument/2006/relationships/font" Target="fonts/BarlowCondense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22.png"/><Relationship Id="rId5" Type="http://schemas.openxmlformats.org/officeDocument/2006/relationships/image" Target="../media/image37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4.png"/><Relationship Id="rId13" Type="http://schemas.openxmlformats.org/officeDocument/2006/relationships/image" Target="../media/image40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1247444">
            <a:off x="-4142618" y="6280575"/>
            <a:ext cx="9153019" cy="8509712"/>
          </a:xfrm>
          <a:custGeom>
            <a:rect b="b" l="l" r="r" t="t"/>
            <a:pathLst>
              <a:path extrusionOk="0" h="8508648" w="9151875">
                <a:moveTo>
                  <a:pt x="0" y="0"/>
                </a:moveTo>
                <a:lnTo>
                  <a:pt x="9151875" y="0"/>
                </a:lnTo>
                <a:lnTo>
                  <a:pt x="9151875" y="8508649"/>
                </a:lnTo>
                <a:lnTo>
                  <a:pt x="0" y="8508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5708304" y="2952164"/>
            <a:ext cx="68715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6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COMUNIDAD VECINAL</a:t>
            </a:r>
            <a:endParaRPr/>
          </a:p>
          <a:p>
            <a:pPr indent="0" lvl="0" marL="0" marR="0" rtl="0" algn="ctr">
              <a:lnSpc>
                <a:spcPct val="9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6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Nexo</a:t>
            </a:r>
            <a:r>
              <a:rPr b="1" i="0" lang="en-US" sz="756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barrio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-888696" y="-6814350"/>
            <a:ext cx="2769469" cy="8028617"/>
          </a:xfrm>
          <a:custGeom>
            <a:rect b="b" l="l" r="r" t="t"/>
            <a:pathLst>
              <a:path extrusionOk="0" h="8028617" w="2769469">
                <a:moveTo>
                  <a:pt x="0" y="0"/>
                </a:moveTo>
                <a:lnTo>
                  <a:pt x="2769469" y="0"/>
                </a:lnTo>
                <a:lnTo>
                  <a:pt x="2769469" y="8028617"/>
                </a:lnTo>
                <a:lnTo>
                  <a:pt x="0" y="8028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4930" r="-86858" t="0"/>
            </a:stretch>
          </a:blip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7863443" y="1284401"/>
            <a:ext cx="2561113" cy="949132"/>
            <a:chOff x="0" y="-76200"/>
            <a:chExt cx="674532" cy="249977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674532" cy="173777"/>
            </a:xfrm>
            <a:custGeom>
              <a:rect b="b" l="l" r="r" t="t"/>
              <a:pathLst>
                <a:path extrusionOk="0" h="173777" w="674532">
                  <a:moveTo>
                    <a:pt x="0" y="0"/>
                  </a:moveTo>
                  <a:lnTo>
                    <a:pt x="674532" y="0"/>
                  </a:lnTo>
                  <a:lnTo>
                    <a:pt x="674532" y="173777"/>
                  </a:lnTo>
                  <a:lnTo>
                    <a:pt x="0" y="173777"/>
                  </a:lnTo>
                  <a:close/>
                </a:path>
              </a:pathLst>
            </a:custGeom>
            <a:solidFill>
              <a:srgbClr val="FB7E5B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76200"/>
              <a:ext cx="674532" cy="249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8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8130252" y="1640398"/>
            <a:ext cx="2027495" cy="490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7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CAPTSONE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8611474" y="352722"/>
            <a:ext cx="1065051" cy="1065051"/>
          </a:xfrm>
          <a:custGeom>
            <a:rect b="b" l="l" r="r" t="t"/>
            <a:pathLst>
              <a:path extrusionOk="0" h="1065051" w="1065051">
                <a:moveTo>
                  <a:pt x="0" y="0"/>
                </a:moveTo>
                <a:lnTo>
                  <a:pt x="1065052" y="0"/>
                </a:lnTo>
                <a:lnTo>
                  <a:pt x="1065052" y="1065051"/>
                </a:lnTo>
                <a:lnTo>
                  <a:pt x="0" y="1065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rot="-1249852">
            <a:off x="13712062" y="5669907"/>
            <a:ext cx="9151875" cy="8508648"/>
          </a:xfrm>
          <a:custGeom>
            <a:rect b="b" l="l" r="r" t="t"/>
            <a:pathLst>
              <a:path extrusionOk="0" h="8508648" w="9151875">
                <a:moveTo>
                  <a:pt x="0" y="0"/>
                </a:moveTo>
                <a:lnTo>
                  <a:pt x="9151876" y="0"/>
                </a:lnTo>
                <a:lnTo>
                  <a:pt x="9151876" y="8508649"/>
                </a:lnTo>
                <a:lnTo>
                  <a:pt x="0" y="8508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7199240" y="6634069"/>
            <a:ext cx="3889521" cy="3979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/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Ignacio Vidal Rojas</a:t>
            </a:r>
            <a:endParaRPr/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Asignatura:</a:t>
            </a:r>
            <a:r>
              <a:rPr b="0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Capstone</a:t>
            </a:r>
            <a:endParaRPr/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Seccion:</a:t>
            </a:r>
            <a:r>
              <a:rPr b="0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001D</a:t>
            </a:r>
            <a:endParaRPr/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 </a:t>
            </a:r>
            <a:r>
              <a:rPr b="0" i="0" lang="en-US" sz="1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Jorge Alberto Castro</a:t>
            </a:r>
            <a:endParaRPr/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084156" y="-6814350"/>
            <a:ext cx="2769469" cy="8028617"/>
          </a:xfrm>
          <a:custGeom>
            <a:rect b="b" l="l" r="r" t="t"/>
            <a:pathLst>
              <a:path extrusionOk="0" h="8028617" w="2769469">
                <a:moveTo>
                  <a:pt x="0" y="0"/>
                </a:moveTo>
                <a:lnTo>
                  <a:pt x="2769469" y="0"/>
                </a:lnTo>
                <a:lnTo>
                  <a:pt x="2769469" y="8028617"/>
                </a:lnTo>
                <a:lnTo>
                  <a:pt x="0" y="8028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4930" r="-86858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028700" y="1028700"/>
            <a:ext cx="3397083" cy="1081102"/>
          </a:xfrm>
          <a:custGeom>
            <a:rect b="b" l="l" r="r" t="t"/>
            <a:pathLst>
              <a:path extrusionOk="0" h="1081102" w="3397083">
                <a:moveTo>
                  <a:pt x="0" y="0"/>
                </a:moveTo>
                <a:lnTo>
                  <a:pt x="3397083" y="0"/>
                </a:lnTo>
                <a:lnTo>
                  <a:pt x="3397083" y="1081102"/>
                </a:lnTo>
                <a:lnTo>
                  <a:pt x="0" y="1081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14720" l="0" r="0" t="-99478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7E5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10249683" y="1028700"/>
            <a:ext cx="11968084" cy="8229600"/>
          </a:xfrm>
          <a:custGeom>
            <a:rect b="b" l="l" r="r" t="t"/>
            <a:pathLst>
              <a:path extrusionOk="0" h="4235450" w="6159500">
                <a:moveTo>
                  <a:pt x="6159500" y="4235450"/>
                </a:moveTo>
                <a:lnTo>
                  <a:pt x="0" y="3696970"/>
                </a:lnTo>
                <a:lnTo>
                  <a:pt x="0" y="0"/>
                </a:lnTo>
                <a:lnTo>
                  <a:pt x="6159500" y="53848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523" r="-1524" t="0"/>
            </a:stretch>
          </a:blipFill>
          <a:ln>
            <a:noFill/>
          </a:ln>
        </p:spPr>
      </p:sp>
      <p:grpSp>
        <p:nvGrpSpPr>
          <p:cNvPr id="101" name="Google Shape;101;p2"/>
          <p:cNvGrpSpPr/>
          <p:nvPr/>
        </p:nvGrpSpPr>
        <p:grpSpPr>
          <a:xfrm>
            <a:off x="1028700" y="811627"/>
            <a:ext cx="8115300" cy="2236881"/>
            <a:chOff x="0" y="200025"/>
            <a:chExt cx="10820400" cy="2982508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200025"/>
              <a:ext cx="10820400" cy="1915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9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443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CONTEXTO</a:t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2465491"/>
              <a:ext cx="10820400" cy="7170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20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1028700" y="3058033"/>
            <a:ext cx="6860698" cy="428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 esta presentación vamos a continuar con la propuesta de proyecto elegida, hablando de su tecnológica, documentación asociada, incluyendo la definición del equipo de trabajo, estimación de costos, cronograma de actividades, metodología utilizada y principales entregables del proyecto.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3"/>
          <p:cNvGrpSpPr/>
          <p:nvPr/>
        </p:nvGrpSpPr>
        <p:grpSpPr>
          <a:xfrm>
            <a:off x="12402155" y="1469825"/>
            <a:ext cx="4857145" cy="6002886"/>
            <a:chOff x="0" y="-38100"/>
            <a:chExt cx="1402769" cy="1733665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1402769" cy="1695565"/>
            </a:xfrm>
            <a:custGeom>
              <a:rect b="b" l="l" r="r" t="t"/>
              <a:pathLst>
                <a:path extrusionOk="0" h="1695565" w="1402769">
                  <a:moveTo>
                    <a:pt x="81290" y="0"/>
                  </a:moveTo>
                  <a:lnTo>
                    <a:pt x="1321479" y="0"/>
                  </a:lnTo>
                  <a:cubicBezTo>
                    <a:pt x="1343038" y="0"/>
                    <a:pt x="1363715" y="8564"/>
                    <a:pt x="1378960" y="23809"/>
                  </a:cubicBezTo>
                  <a:cubicBezTo>
                    <a:pt x="1394205" y="39054"/>
                    <a:pt x="1402769" y="59731"/>
                    <a:pt x="1402769" y="81290"/>
                  </a:cubicBezTo>
                  <a:lnTo>
                    <a:pt x="1402769" y="1614275"/>
                  </a:lnTo>
                  <a:cubicBezTo>
                    <a:pt x="1402769" y="1635835"/>
                    <a:pt x="1394205" y="1656511"/>
                    <a:pt x="1378960" y="1671756"/>
                  </a:cubicBezTo>
                  <a:cubicBezTo>
                    <a:pt x="1363715" y="1687001"/>
                    <a:pt x="1343038" y="1695565"/>
                    <a:pt x="1321479" y="1695565"/>
                  </a:cubicBezTo>
                  <a:lnTo>
                    <a:pt x="81290" y="1695565"/>
                  </a:lnTo>
                  <a:cubicBezTo>
                    <a:pt x="59731" y="1695565"/>
                    <a:pt x="39054" y="1687001"/>
                    <a:pt x="23809" y="1671756"/>
                  </a:cubicBezTo>
                  <a:cubicBezTo>
                    <a:pt x="8564" y="1656511"/>
                    <a:pt x="0" y="1635835"/>
                    <a:pt x="0" y="1614275"/>
                  </a:cubicBezTo>
                  <a:lnTo>
                    <a:pt x="0" y="81290"/>
                  </a:lnTo>
                  <a:cubicBezTo>
                    <a:pt x="0" y="59731"/>
                    <a:pt x="8564" y="39054"/>
                    <a:pt x="23809" y="23809"/>
                  </a:cubicBezTo>
                  <a:cubicBezTo>
                    <a:pt x="39054" y="8564"/>
                    <a:pt x="59731" y="0"/>
                    <a:pt x="812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7150">
              <a:solidFill>
                <a:srgbClr val="4EB4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1402769" cy="1733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3"/>
          <p:cNvGrpSpPr/>
          <p:nvPr/>
        </p:nvGrpSpPr>
        <p:grpSpPr>
          <a:xfrm>
            <a:off x="590741" y="1457087"/>
            <a:ext cx="5304919" cy="6015624"/>
            <a:chOff x="0" y="-38100"/>
            <a:chExt cx="1397180" cy="1584362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397180" cy="1546262"/>
            </a:xfrm>
            <a:custGeom>
              <a:rect b="b" l="l" r="r" t="t"/>
              <a:pathLst>
                <a:path extrusionOk="0" h="1546262" w="1397180">
                  <a:moveTo>
                    <a:pt x="74429" y="0"/>
                  </a:moveTo>
                  <a:lnTo>
                    <a:pt x="1322752" y="0"/>
                  </a:lnTo>
                  <a:cubicBezTo>
                    <a:pt x="1363858" y="0"/>
                    <a:pt x="1397180" y="33323"/>
                    <a:pt x="1397180" y="74429"/>
                  </a:cubicBezTo>
                  <a:lnTo>
                    <a:pt x="1397180" y="1471833"/>
                  </a:lnTo>
                  <a:cubicBezTo>
                    <a:pt x="1397180" y="1512939"/>
                    <a:pt x="1363858" y="1546262"/>
                    <a:pt x="1322752" y="1546262"/>
                  </a:cubicBezTo>
                  <a:lnTo>
                    <a:pt x="74429" y="1546262"/>
                  </a:lnTo>
                  <a:cubicBezTo>
                    <a:pt x="33323" y="1546262"/>
                    <a:pt x="0" y="1512939"/>
                    <a:pt x="0" y="1471833"/>
                  </a:cubicBezTo>
                  <a:lnTo>
                    <a:pt x="0" y="74429"/>
                  </a:lnTo>
                  <a:cubicBezTo>
                    <a:pt x="0" y="33323"/>
                    <a:pt x="33323" y="0"/>
                    <a:pt x="74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7150">
              <a:solidFill>
                <a:srgbClr val="FB7E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397180" cy="158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3781412" y="815315"/>
            <a:ext cx="2091448" cy="1309022"/>
            <a:chOff x="0" y="-76200"/>
            <a:chExt cx="604021" cy="378053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604021" cy="301853"/>
            </a:xfrm>
            <a:custGeom>
              <a:rect b="b" l="l" r="r" t="t"/>
              <a:pathLst>
                <a:path extrusionOk="0" h="301853" w="604021">
                  <a:moveTo>
                    <a:pt x="0" y="0"/>
                  </a:moveTo>
                  <a:lnTo>
                    <a:pt x="604021" y="0"/>
                  </a:lnTo>
                  <a:lnTo>
                    <a:pt x="604021" y="301853"/>
                  </a:lnTo>
                  <a:lnTo>
                    <a:pt x="0" y="301853"/>
                  </a:lnTo>
                  <a:close/>
                </a:path>
              </a:pathLst>
            </a:custGeom>
            <a:solidFill>
              <a:srgbClr val="4EB4DE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76200"/>
              <a:ext cx="604021" cy="378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SOLUCION</a:t>
              </a: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2035086" y="688918"/>
            <a:ext cx="2416230" cy="1435419"/>
            <a:chOff x="0" y="-76200"/>
            <a:chExt cx="636373" cy="378053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636373" cy="301853"/>
            </a:xfrm>
            <a:custGeom>
              <a:rect b="b" l="l" r="r" t="t"/>
              <a:pathLst>
                <a:path extrusionOk="0" h="301853" w="636373">
                  <a:moveTo>
                    <a:pt x="0" y="0"/>
                  </a:moveTo>
                  <a:lnTo>
                    <a:pt x="636373" y="0"/>
                  </a:lnTo>
                  <a:lnTo>
                    <a:pt x="636373" y="301853"/>
                  </a:lnTo>
                  <a:lnTo>
                    <a:pt x="0" y="301853"/>
                  </a:lnTo>
                  <a:close/>
                </a:path>
              </a:pathLst>
            </a:custGeom>
            <a:solidFill>
              <a:srgbClr val="FB7E5B"/>
            </a:soli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76200"/>
              <a:ext cx="636373" cy="378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PROBLEMA </a:t>
              </a:r>
              <a:endParaRPr/>
            </a:p>
          </p:txBody>
        </p:sp>
      </p:grpSp>
      <p:sp>
        <p:nvSpPr>
          <p:cNvPr id="121" name="Google Shape;121;p3"/>
          <p:cNvSpPr txBox="1"/>
          <p:nvPr/>
        </p:nvSpPr>
        <p:spPr>
          <a:xfrm>
            <a:off x="12650764" y="2611016"/>
            <a:ext cx="43527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35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Desarrollar un sistema informático (sitio web responsivo y/o aplicación móvil) que centralice y automatice los procesos de gestión de la junta de vecinos, permitiendo administrar de forma eficiente la información, trámites y comunicaciones con la comunidad.</a:t>
            </a:r>
            <a:endParaRPr sz="1200"/>
          </a:p>
        </p:txBody>
      </p:sp>
      <p:sp>
        <p:nvSpPr>
          <p:cNvPr id="122" name="Google Shape;122;p3"/>
          <p:cNvSpPr txBox="1"/>
          <p:nvPr/>
        </p:nvSpPr>
        <p:spPr>
          <a:xfrm>
            <a:off x="1001000" y="2277454"/>
            <a:ext cx="4484400" cy="4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8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1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Las juntas de vecinos en Chile presentan una baja adopción de herramientas tecnológicas para la gestión de sus procesos administrativos y comunitarios. La mayoría de sus actividades, como la inscripción de vecinos, emisión de certificados, postulación de proyectos, difusión de información y coordinación de actividades, se realizan de manera manual o con herramientas no integradas (papel, planillas, mensajería informal), lo que genera desorden, pérdida de información, retrasos en los trámites y dificultades en la comunicación entre el directorio y los vecinos.</a:t>
            </a:r>
            <a:endParaRPr sz="1200"/>
          </a:p>
        </p:txBody>
      </p:sp>
      <p:grpSp>
        <p:nvGrpSpPr>
          <p:cNvPr id="123" name="Google Shape;123;p3"/>
          <p:cNvGrpSpPr/>
          <p:nvPr/>
        </p:nvGrpSpPr>
        <p:grpSpPr>
          <a:xfrm>
            <a:off x="6051574" y="2986704"/>
            <a:ext cx="6184853" cy="3547557"/>
            <a:chOff x="0" y="0"/>
            <a:chExt cx="7981950" cy="4578350"/>
          </a:xfrm>
        </p:grpSpPr>
        <p:sp>
          <p:nvSpPr>
            <p:cNvPr id="124" name="Google Shape;124;p3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962660" y="276860"/>
              <a:ext cx="6055360" cy="3789680"/>
            </a:xfrm>
            <a:custGeom>
              <a:rect b="b" l="l" r="r" t="t"/>
              <a:pathLst>
                <a:path extrusionOk="0"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321" r="-322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7E5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205422" y="2874735"/>
            <a:ext cx="823278" cy="823278"/>
          </a:xfrm>
          <a:custGeom>
            <a:rect b="b" l="l" r="r" t="t"/>
            <a:pathLst>
              <a:path extrusionOk="0" h="823278" w="823278">
                <a:moveTo>
                  <a:pt x="0" y="0"/>
                </a:moveTo>
                <a:lnTo>
                  <a:pt x="823278" y="0"/>
                </a:lnTo>
                <a:lnTo>
                  <a:pt x="823278" y="823278"/>
                </a:lnTo>
                <a:lnTo>
                  <a:pt x="0" y="8232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/>
          <p:nvPr/>
        </p:nvSpPr>
        <p:spPr>
          <a:xfrm>
            <a:off x="176260" y="5917703"/>
            <a:ext cx="852440" cy="852440"/>
          </a:xfrm>
          <a:custGeom>
            <a:rect b="b" l="l" r="r" t="t"/>
            <a:pathLst>
              <a:path extrusionOk="0" h="852440" w="852440">
                <a:moveTo>
                  <a:pt x="0" y="0"/>
                </a:moveTo>
                <a:lnTo>
                  <a:pt x="852440" y="0"/>
                </a:lnTo>
                <a:lnTo>
                  <a:pt x="852440" y="852440"/>
                </a:lnTo>
                <a:lnTo>
                  <a:pt x="0" y="85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4"/>
          <p:cNvSpPr/>
          <p:nvPr/>
        </p:nvSpPr>
        <p:spPr>
          <a:xfrm>
            <a:off x="11113511" y="0"/>
            <a:ext cx="7174489" cy="10287000"/>
          </a:xfrm>
          <a:custGeom>
            <a:rect b="b" l="l" r="r" t="t"/>
            <a:pathLst>
              <a:path extrusionOk="0" h="10287000" w="7174489">
                <a:moveTo>
                  <a:pt x="0" y="0"/>
                </a:moveTo>
                <a:lnTo>
                  <a:pt x="7174489" y="0"/>
                </a:lnTo>
                <a:lnTo>
                  <a:pt x="71744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5333" r="-39873" t="0"/>
            </a:stretch>
          </a:blipFill>
          <a:ln>
            <a:noFill/>
          </a:ln>
        </p:spPr>
      </p:sp>
      <p:sp>
        <p:nvSpPr>
          <p:cNvPr id="136" name="Google Shape;136;p4"/>
          <p:cNvSpPr txBox="1"/>
          <p:nvPr/>
        </p:nvSpPr>
        <p:spPr>
          <a:xfrm>
            <a:off x="1028700" y="774555"/>
            <a:ext cx="4752005" cy="179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44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OBJETIVOS DEL PROYECTO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28700" y="3506470"/>
            <a:ext cx="9677742" cy="2226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Desarrollar un sistema de gestión vecinal web y móvil que permita optimizar y digitalizar los procesos administrativos, comunicacionales y operativos de una junta de vecinos, facilitando la inscripción y validación de residentes, la emisión de certificados, la gestión de proyectos, reservas, solicitudes ciudadanas y la comunicación comunitaria, garantizando transparencia, trazabilidad y una experiencia de uso accesible para vecinos y directivos.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028700" y="2950935"/>
            <a:ext cx="3700937" cy="536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 GENERAL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1028700" y="6770143"/>
            <a:ext cx="9677742" cy="43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054" lvl="1" marL="626109" marR="0" rtl="0" algn="just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Char char="•"/>
            </a:pPr>
            <a:r>
              <a:rPr b="0" i="0" lang="en-US" sz="2899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Implementar un módulo de inscripción y registro digital de vecinos.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028700" y="6113780"/>
            <a:ext cx="4600777" cy="536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OBJETIVOS ESPECIFICOS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028700" y="7512458"/>
            <a:ext cx="8967341" cy="856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054" lvl="1" marL="626109" marR="0" rtl="0" algn="just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Char char="•"/>
            </a:pPr>
            <a:r>
              <a:rPr b="0" i="0" lang="en-US" sz="2899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Diseñar e implementar un sistema de solicitud y emisión de certificados de residencia.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028700" y="8673873"/>
            <a:ext cx="9677742" cy="856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054" lvl="1" marL="626109" marR="0" rtl="0" algn="just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Char char="•"/>
            </a:pPr>
            <a:r>
              <a:rPr b="0" i="0" lang="en-US" sz="2899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Establecer un canal de comunicación digital para notificaciones, noticias y avisos.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5"/>
          <p:cNvGrpSpPr/>
          <p:nvPr/>
        </p:nvGrpSpPr>
        <p:grpSpPr>
          <a:xfrm>
            <a:off x="5951651" y="1100138"/>
            <a:ext cx="6384699" cy="2017286"/>
            <a:chOff x="0" y="95250"/>
            <a:chExt cx="8512932" cy="2689715"/>
          </a:xfrm>
        </p:grpSpPr>
        <p:sp>
          <p:nvSpPr>
            <p:cNvPr id="148" name="Google Shape;148;p5"/>
            <p:cNvSpPr txBox="1"/>
            <p:nvPr/>
          </p:nvSpPr>
          <p:spPr>
            <a:xfrm>
              <a:off x="0" y="95250"/>
              <a:ext cx="8512932" cy="96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ALCANCE Y LIMITACIONES</a:t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2271972"/>
              <a:ext cx="5481890" cy="512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0" name="Google Shape;150;p5"/>
          <p:cNvGraphicFramePr/>
          <p:nvPr/>
        </p:nvGraphicFramePr>
        <p:xfrm>
          <a:off x="1028700" y="2373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{8C5B141C-6965-485A-BB58-7E8DC0F112A9}</a:tableStyleId>
              </a:tblPr>
              <a:tblGrid>
                <a:gridCol w="8115300"/>
                <a:gridCol w="8115300"/>
              </a:tblGrid>
              <a:tr h="157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 HACE </a:t>
                      </a:r>
                      <a:endParaRPr sz="1100" u="none" cap="none" strike="noStrike"/>
                    </a:p>
                  </a:txBody>
                  <a:tcPr marT="190500" marB="190500" marR="190500" marL="190500">
                    <a:lnL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5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 NO HACE</a:t>
                      </a:r>
                      <a:endParaRPr sz="1100" u="none" cap="none" strike="noStrike"/>
                    </a:p>
                  </a:txBody>
                  <a:tcPr marT="190500" marB="190500" marR="190500" marL="190500">
                    <a:lnL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0025">
                <a:tc>
                  <a:txBody>
                    <a:bodyPr/>
                    <a:lstStyle/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de Chatbot IA para ser un asistente para el seguimiento de consultas y solicitudes.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305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Gestión de vecinos e identidad.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proyectos, solicitudes y actividades.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Certificados digitales con trazabilidad.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0" marB="190500" marR="190500" marL="190500">
                    <a:lnL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procesa archivos gigantes. 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305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gestiona seguridad avanzada.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59079" lvl="1" marL="518160" marR="0" rtl="0" algn="l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valida documentos oficiales con entidades externas.</a:t>
                      </a:r>
                      <a:endParaRPr/>
                    </a:p>
                  </a:txBody>
                  <a:tcPr marT="190500" marB="190500" marR="190500" marL="190500">
                    <a:lnL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5"/>
          <p:cNvSpPr/>
          <p:nvPr/>
        </p:nvSpPr>
        <p:spPr>
          <a:xfrm>
            <a:off x="12502110" y="882744"/>
            <a:ext cx="1190318" cy="1190318"/>
          </a:xfrm>
          <a:custGeom>
            <a:rect b="b" l="l" r="r" t="t"/>
            <a:pathLst>
              <a:path extrusionOk="0" h="1190318" w="1190318">
                <a:moveTo>
                  <a:pt x="0" y="0"/>
                </a:moveTo>
                <a:lnTo>
                  <a:pt x="1190318" y="0"/>
                </a:lnTo>
                <a:lnTo>
                  <a:pt x="1190318" y="1190318"/>
                </a:lnTo>
                <a:lnTo>
                  <a:pt x="0" y="119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7642278" y="2397779"/>
            <a:ext cx="932448" cy="953911"/>
          </a:xfrm>
          <a:custGeom>
            <a:rect b="b" l="l" r="r" t="t"/>
            <a:pathLst>
              <a:path extrusionOk="0" h="953911" w="932448">
                <a:moveTo>
                  <a:pt x="0" y="0"/>
                </a:moveTo>
                <a:lnTo>
                  <a:pt x="932448" y="0"/>
                </a:lnTo>
                <a:lnTo>
                  <a:pt x="932448" y="953911"/>
                </a:lnTo>
                <a:lnTo>
                  <a:pt x="0" y="953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6"/>
          <p:cNvSpPr/>
          <p:nvPr/>
        </p:nvSpPr>
        <p:spPr>
          <a:xfrm>
            <a:off x="12045323" y="0"/>
            <a:ext cx="6242677" cy="10287000"/>
          </a:xfrm>
          <a:custGeom>
            <a:rect b="b" l="l" r="r" t="t"/>
            <a:pathLst>
              <a:path extrusionOk="0" h="10287000" w="6242677">
                <a:moveTo>
                  <a:pt x="0" y="0"/>
                </a:moveTo>
                <a:lnTo>
                  <a:pt x="6242677" y="0"/>
                </a:lnTo>
                <a:lnTo>
                  <a:pt x="62426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8211" r="-69105" t="0"/>
            </a:stretch>
          </a:blipFill>
          <a:ln>
            <a:noFill/>
          </a:ln>
        </p:spPr>
      </p:sp>
      <p:sp>
        <p:nvSpPr>
          <p:cNvPr id="158" name="Google Shape;158;p6"/>
          <p:cNvSpPr txBox="1"/>
          <p:nvPr/>
        </p:nvSpPr>
        <p:spPr>
          <a:xfrm>
            <a:off x="1028700" y="861633"/>
            <a:ext cx="16230600" cy="1386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43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METODOLOGIA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1028700" y="3500355"/>
            <a:ext cx="10136816" cy="201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El proyecto se desarrollará utilizando una metodología tradicional, la cual permite una planificación estructurada y ordenada del desarrollo del sistema, asegurando el cumplimiento de los objetivos definidos, los plazos establecidos y la documentación formal exigida para el Proyecto de Título.</a:t>
            </a:r>
            <a:endParaRPr/>
          </a:p>
          <a:p>
            <a:pPr indent="0" lvl="0" marL="0" marR="0" rtl="0" algn="just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028700" y="6034263"/>
            <a:ext cx="10136816" cy="40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Permite una definición clara y completa de los requisitos desde las etapas iniciales</a:t>
            </a:r>
            <a:endParaRPr/>
          </a:p>
          <a:p>
            <a:pPr indent="-302260" lvl="1" marL="604519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Facilita la planificación detallada del proyecto, incluyendo cronograma, costos y recursos</a:t>
            </a:r>
            <a:endParaRPr/>
          </a:p>
          <a:p>
            <a:pPr indent="-302260" lvl="1" marL="604519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Asegura una documentación formal y trazable en cada fase del desarrollo</a:t>
            </a:r>
            <a:endParaRPr/>
          </a:p>
          <a:p>
            <a:pPr indent="-302260" lvl="1" marL="604519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Permite un control ordenado del avance, alineado con los entregables académicos</a:t>
            </a:r>
            <a:endParaRPr/>
          </a:p>
          <a:p>
            <a:pPr indent="-302260" lvl="1" marL="604519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 adapta adecuadamente al desarrollo de sistemas web, considerando un alcance definido</a:t>
            </a:r>
            <a:endParaRPr/>
          </a:p>
          <a:p>
            <a:pPr indent="0" lvl="0" marL="0" marR="0" rtl="0" algn="l">
              <a:lnSpc>
                <a:spcPct val="11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028700" y="2677739"/>
            <a:ext cx="6613578" cy="451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43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METODOLOGÍA TRADICIONAL (EN CASCADA)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1028700" y="5410545"/>
            <a:ext cx="10426061" cy="41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44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¿POR QUÉ METODOLOGÍA TRADICIONAL PARA EL PROYECTO?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482942" y="482942"/>
            <a:ext cx="1091516" cy="1091516"/>
          </a:xfrm>
          <a:custGeom>
            <a:rect b="b" l="l" r="r" t="t"/>
            <a:pathLst>
              <a:path extrusionOk="0" h="1091516" w="1091516">
                <a:moveTo>
                  <a:pt x="0" y="0"/>
                </a:moveTo>
                <a:lnTo>
                  <a:pt x="1091516" y="0"/>
                </a:lnTo>
                <a:lnTo>
                  <a:pt x="1091516" y="1091516"/>
                </a:lnTo>
                <a:lnTo>
                  <a:pt x="0" y="1091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>
            <a:off x="6222955" y="2998496"/>
            <a:ext cx="11732844" cy="4666598"/>
          </a:xfrm>
          <a:custGeom>
            <a:rect b="b" l="l" r="r" t="t"/>
            <a:pathLst>
              <a:path extrusionOk="0" h="4666598" w="11732844">
                <a:moveTo>
                  <a:pt x="0" y="0"/>
                </a:moveTo>
                <a:lnTo>
                  <a:pt x="11732844" y="0"/>
                </a:lnTo>
                <a:lnTo>
                  <a:pt x="11732844" y="4666598"/>
                </a:lnTo>
                <a:lnTo>
                  <a:pt x="0" y="4666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7"/>
          <p:cNvGrpSpPr/>
          <p:nvPr/>
        </p:nvGrpSpPr>
        <p:grpSpPr>
          <a:xfrm>
            <a:off x="1680930" y="635722"/>
            <a:ext cx="5863739" cy="2017286"/>
            <a:chOff x="0" y="95250"/>
            <a:chExt cx="7818318" cy="2689715"/>
          </a:xfrm>
        </p:grpSpPr>
        <p:sp>
          <p:nvSpPr>
            <p:cNvPr id="170" name="Google Shape;170;p7"/>
            <p:cNvSpPr txBox="1"/>
            <p:nvPr/>
          </p:nvSpPr>
          <p:spPr>
            <a:xfrm>
              <a:off x="0" y="95250"/>
              <a:ext cx="7818318" cy="1845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ARQUITECTURA DEL PROYECTO</a:t>
              </a:r>
              <a:endParaRPr/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0" y="2271972"/>
              <a:ext cx="5481890" cy="512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 txBox="1"/>
          <p:nvPr/>
        </p:nvSpPr>
        <p:spPr>
          <a:xfrm>
            <a:off x="266704" y="3027429"/>
            <a:ext cx="5654105" cy="4174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arquitectura del sistema es de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tres capas(o N-Capas )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(presentación, lógica y datos), complementada con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 externos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como notificaciones (WhatsApp/Correo), OCR y chatbot con IA, entregando orden en el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facilidad de mantenimiento</a:t>
            </a:r>
            <a:r>
              <a:rPr b="0" i="0" lang="en-US" sz="20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permitiendo además que el sistema funcione tanto en web como en móvil e integrando servicios externos de forma controlada.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8"/>
          <p:cNvGrpSpPr/>
          <p:nvPr/>
        </p:nvGrpSpPr>
        <p:grpSpPr>
          <a:xfrm>
            <a:off x="1028700" y="3867251"/>
            <a:ext cx="5491234" cy="1854924"/>
            <a:chOff x="0" y="180975"/>
            <a:chExt cx="7321645" cy="2473231"/>
          </a:xfrm>
        </p:grpSpPr>
        <p:sp>
          <p:nvSpPr>
            <p:cNvPr id="178" name="Google Shape;178;p8"/>
            <p:cNvSpPr txBox="1"/>
            <p:nvPr/>
          </p:nvSpPr>
          <p:spPr>
            <a:xfrm>
              <a:off x="0" y="180975"/>
              <a:ext cx="7321645" cy="1668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9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143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ROLES</a:t>
              </a:r>
              <a:endParaRPr/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0" y="2170292"/>
              <a:ext cx="7321645" cy="4839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9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15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INFORMACION SOBRE ROLES</a:t>
              </a:r>
              <a:endParaRPr/>
            </a:p>
          </p:txBody>
        </p:sp>
      </p:grpSp>
      <p:graphicFrame>
        <p:nvGraphicFramePr>
          <p:cNvPr id="180" name="Google Shape;180;p8"/>
          <p:cNvGraphicFramePr/>
          <p:nvPr/>
        </p:nvGraphicFramePr>
        <p:xfrm>
          <a:off x="8182047" y="396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{8C5B141C-6965-485A-BB58-7E8DC0F112A9}</a:tableStyleId>
              </a:tblPr>
              <a:tblGrid>
                <a:gridCol w="9959100"/>
              </a:tblGrid>
              <a:tr h="9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EB82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Vecino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EFE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Representa al usuario general de la comunidad. Sus capacidades están limitadas a acciones que no requieren autoridad administrativa.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EB82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Directorio (Secretario)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EFE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enfoca en procesos documentales y comunicación institucional, por lo tanto administra las funciones relacionadas a certificados, noticias y notificaciones.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EB82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Directorio (Tesorero)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EFE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Está enfocado en procesos que involucran recursos, control y transparencia, especialmente en proyectos y reservas pagadas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EB82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Directorio (Presidente)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EFE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Presidente es el responsable máximo y tiene acceso a todas las funciones administrativas, incluyendo las más críticas.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2B4B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8"/>
          <p:cNvSpPr/>
          <p:nvPr/>
        </p:nvSpPr>
        <p:spPr>
          <a:xfrm>
            <a:off x="6821793" y="968904"/>
            <a:ext cx="1050598" cy="1065246"/>
          </a:xfrm>
          <a:custGeom>
            <a:rect b="b" l="l" r="r" t="t"/>
            <a:pathLst>
              <a:path extrusionOk="0" h="1065246" w="1050598">
                <a:moveTo>
                  <a:pt x="0" y="0"/>
                </a:moveTo>
                <a:lnTo>
                  <a:pt x="1050599" y="0"/>
                </a:lnTo>
                <a:lnTo>
                  <a:pt x="1050599" y="1065245"/>
                </a:lnTo>
                <a:lnTo>
                  <a:pt x="0" y="1065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8"/>
          <p:cNvSpPr/>
          <p:nvPr/>
        </p:nvSpPr>
        <p:spPr>
          <a:xfrm>
            <a:off x="6916052" y="2932732"/>
            <a:ext cx="920793" cy="798788"/>
          </a:xfrm>
          <a:custGeom>
            <a:rect b="b" l="l" r="r" t="t"/>
            <a:pathLst>
              <a:path extrusionOk="0" h="798788" w="920793">
                <a:moveTo>
                  <a:pt x="0" y="0"/>
                </a:moveTo>
                <a:lnTo>
                  <a:pt x="920793" y="0"/>
                </a:lnTo>
                <a:lnTo>
                  <a:pt x="920793" y="798788"/>
                </a:lnTo>
                <a:lnTo>
                  <a:pt x="0" y="798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8"/>
          <p:cNvSpPr/>
          <p:nvPr/>
        </p:nvSpPr>
        <p:spPr>
          <a:xfrm>
            <a:off x="6880506" y="5411955"/>
            <a:ext cx="991885" cy="698039"/>
          </a:xfrm>
          <a:custGeom>
            <a:rect b="b" l="l" r="r" t="t"/>
            <a:pathLst>
              <a:path extrusionOk="0" h="698039" w="991885">
                <a:moveTo>
                  <a:pt x="0" y="0"/>
                </a:moveTo>
                <a:lnTo>
                  <a:pt x="991886" y="0"/>
                </a:lnTo>
                <a:lnTo>
                  <a:pt x="991886" y="698040"/>
                </a:lnTo>
                <a:lnTo>
                  <a:pt x="0" y="698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8"/>
          <p:cNvSpPr/>
          <p:nvPr/>
        </p:nvSpPr>
        <p:spPr>
          <a:xfrm>
            <a:off x="6887616" y="7580562"/>
            <a:ext cx="918952" cy="1317495"/>
          </a:xfrm>
          <a:custGeom>
            <a:rect b="b" l="l" r="r" t="t"/>
            <a:pathLst>
              <a:path extrusionOk="0" h="1317495" w="918952">
                <a:moveTo>
                  <a:pt x="0" y="0"/>
                </a:moveTo>
                <a:lnTo>
                  <a:pt x="918953" y="0"/>
                </a:lnTo>
                <a:lnTo>
                  <a:pt x="918953" y="1317494"/>
                </a:lnTo>
                <a:lnTo>
                  <a:pt x="0" y="1317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3504877" y="1574458"/>
            <a:ext cx="11278246" cy="8134435"/>
          </a:xfrm>
          <a:custGeom>
            <a:rect b="b" l="l" r="r" t="t"/>
            <a:pathLst>
              <a:path extrusionOk="0" h="8134435" w="11278246">
                <a:moveTo>
                  <a:pt x="0" y="0"/>
                </a:moveTo>
                <a:lnTo>
                  <a:pt x="11278246" y="0"/>
                </a:lnTo>
                <a:lnTo>
                  <a:pt x="11278246" y="8134435"/>
                </a:lnTo>
                <a:lnTo>
                  <a:pt x="0" y="8134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9"/>
          <p:cNvSpPr/>
          <p:nvPr/>
        </p:nvSpPr>
        <p:spPr>
          <a:xfrm>
            <a:off x="482942" y="482942"/>
            <a:ext cx="1091516" cy="1091516"/>
          </a:xfrm>
          <a:custGeom>
            <a:rect b="b" l="l" r="r" t="t"/>
            <a:pathLst>
              <a:path extrusionOk="0" h="1091516" w="1091516">
                <a:moveTo>
                  <a:pt x="0" y="0"/>
                </a:moveTo>
                <a:lnTo>
                  <a:pt x="1091516" y="0"/>
                </a:lnTo>
                <a:lnTo>
                  <a:pt x="1091516" y="1091516"/>
                </a:lnTo>
                <a:lnTo>
                  <a:pt x="0" y="1091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9"/>
          <p:cNvGrpSpPr/>
          <p:nvPr/>
        </p:nvGrpSpPr>
        <p:grpSpPr>
          <a:xfrm>
            <a:off x="1680930" y="635722"/>
            <a:ext cx="4111418" cy="1360061"/>
            <a:chOff x="0" y="95250"/>
            <a:chExt cx="5481890" cy="1813415"/>
          </a:xfrm>
        </p:grpSpPr>
        <p:sp>
          <p:nvSpPr>
            <p:cNvPr id="192" name="Google Shape;192;p9"/>
            <p:cNvSpPr txBox="1"/>
            <p:nvPr/>
          </p:nvSpPr>
          <p:spPr>
            <a:xfrm>
              <a:off x="0" y="95250"/>
              <a:ext cx="5481890" cy="96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BASE DE DATOS</a:t>
              </a:r>
              <a:endParaRPr/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0" y="1395672"/>
              <a:ext cx="5481890" cy="512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4015141" y="1574458"/>
            <a:ext cx="9110145" cy="5044743"/>
          </a:xfrm>
          <a:custGeom>
            <a:rect b="b" l="l" r="r" t="t"/>
            <a:pathLst>
              <a:path extrusionOk="0" h="5044743" w="9110145">
                <a:moveTo>
                  <a:pt x="0" y="0"/>
                </a:moveTo>
                <a:lnTo>
                  <a:pt x="9110144" y="0"/>
                </a:lnTo>
                <a:lnTo>
                  <a:pt x="9110144" y="5044743"/>
                </a:lnTo>
                <a:lnTo>
                  <a:pt x="0" y="50447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0"/>
          <p:cNvSpPr/>
          <p:nvPr/>
        </p:nvSpPr>
        <p:spPr>
          <a:xfrm>
            <a:off x="4015141" y="6619201"/>
            <a:ext cx="9110145" cy="3086062"/>
          </a:xfrm>
          <a:custGeom>
            <a:rect b="b" l="l" r="r" t="t"/>
            <a:pathLst>
              <a:path extrusionOk="0" h="3086062" w="9110145">
                <a:moveTo>
                  <a:pt x="0" y="0"/>
                </a:moveTo>
                <a:lnTo>
                  <a:pt x="9110144" y="0"/>
                </a:lnTo>
                <a:lnTo>
                  <a:pt x="9110144" y="3086061"/>
                </a:lnTo>
                <a:lnTo>
                  <a:pt x="0" y="3086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0"/>
          <p:cNvSpPr/>
          <p:nvPr/>
        </p:nvSpPr>
        <p:spPr>
          <a:xfrm>
            <a:off x="618067" y="554333"/>
            <a:ext cx="821266" cy="725701"/>
          </a:xfrm>
          <a:custGeom>
            <a:rect b="b" l="l" r="r" t="t"/>
            <a:pathLst>
              <a:path extrusionOk="0" h="725701" w="821266">
                <a:moveTo>
                  <a:pt x="0" y="0"/>
                </a:moveTo>
                <a:lnTo>
                  <a:pt x="821266" y="0"/>
                </a:lnTo>
                <a:lnTo>
                  <a:pt x="821266" y="725701"/>
                </a:lnTo>
                <a:lnTo>
                  <a:pt x="0" y="725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1" name="Google Shape;201;p10"/>
          <p:cNvGrpSpPr/>
          <p:nvPr/>
        </p:nvGrpSpPr>
        <p:grpSpPr>
          <a:xfrm>
            <a:off x="1553768" y="625771"/>
            <a:ext cx="4111418" cy="1360061"/>
            <a:chOff x="0" y="95250"/>
            <a:chExt cx="5481890" cy="1813415"/>
          </a:xfrm>
        </p:grpSpPr>
        <p:sp>
          <p:nvSpPr>
            <p:cNvPr id="202" name="Google Shape;202;p10"/>
            <p:cNvSpPr txBox="1"/>
            <p:nvPr/>
          </p:nvSpPr>
          <p:spPr>
            <a:xfrm>
              <a:off x="0" y="95250"/>
              <a:ext cx="5481890" cy="96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CRONOGRAMA</a:t>
              </a:r>
              <a:endParaRPr/>
            </a:p>
          </p:txBody>
        </p:sp>
        <p:sp>
          <p:nvSpPr>
            <p:cNvPr id="203" name="Google Shape;203;p10"/>
            <p:cNvSpPr txBox="1"/>
            <p:nvPr/>
          </p:nvSpPr>
          <p:spPr>
            <a:xfrm>
              <a:off x="0" y="1395672"/>
              <a:ext cx="5481890" cy="512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312950" y="578013"/>
            <a:ext cx="1431499" cy="1431499"/>
          </a:xfrm>
          <a:custGeom>
            <a:rect b="b" l="l" r="r" t="t"/>
            <a:pathLst>
              <a:path extrusionOk="0" h="1431499" w="1431499">
                <a:moveTo>
                  <a:pt x="0" y="0"/>
                </a:moveTo>
                <a:lnTo>
                  <a:pt x="1431500" y="0"/>
                </a:lnTo>
                <a:lnTo>
                  <a:pt x="1431500" y="1431499"/>
                </a:lnTo>
                <a:lnTo>
                  <a:pt x="0" y="1431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>
            <a:off x="3585060" y="2009512"/>
            <a:ext cx="11117880" cy="7797746"/>
          </a:xfrm>
          <a:custGeom>
            <a:rect b="b" l="l" r="r" t="t"/>
            <a:pathLst>
              <a:path extrusionOk="0" h="7797746" w="11117880">
                <a:moveTo>
                  <a:pt x="0" y="0"/>
                </a:moveTo>
                <a:lnTo>
                  <a:pt x="11117880" y="0"/>
                </a:lnTo>
                <a:lnTo>
                  <a:pt x="11117880" y="7797746"/>
                </a:lnTo>
                <a:lnTo>
                  <a:pt x="0" y="7797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0" name="Google Shape;210;p11"/>
          <p:cNvGrpSpPr/>
          <p:nvPr/>
        </p:nvGrpSpPr>
        <p:grpSpPr>
          <a:xfrm>
            <a:off x="2004930" y="791531"/>
            <a:ext cx="4111418" cy="1360061"/>
            <a:chOff x="0" y="95250"/>
            <a:chExt cx="5481890" cy="1813415"/>
          </a:xfrm>
        </p:grpSpPr>
        <p:sp>
          <p:nvSpPr>
            <p:cNvPr id="211" name="Google Shape;211;p11"/>
            <p:cNvSpPr txBox="1"/>
            <p:nvPr/>
          </p:nvSpPr>
          <p:spPr>
            <a:xfrm>
              <a:off x="0" y="95250"/>
              <a:ext cx="5481890" cy="96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DIAGRAMA EDT</a:t>
              </a:r>
              <a:endParaRPr/>
            </a:p>
          </p:txBody>
        </p:sp>
        <p:sp>
          <p:nvSpPr>
            <p:cNvPr id="212" name="Google Shape;212;p11"/>
            <p:cNvSpPr txBox="1"/>
            <p:nvPr/>
          </p:nvSpPr>
          <p:spPr>
            <a:xfrm>
              <a:off x="0" y="1395672"/>
              <a:ext cx="5481890" cy="512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506179" y="3203604"/>
            <a:ext cx="9345096" cy="2639990"/>
          </a:xfrm>
          <a:custGeom>
            <a:rect b="b" l="l" r="r" t="t"/>
            <a:pathLst>
              <a:path extrusionOk="0" h="2639990" w="9345096">
                <a:moveTo>
                  <a:pt x="0" y="0"/>
                </a:moveTo>
                <a:lnTo>
                  <a:pt x="9345096" y="0"/>
                </a:lnTo>
                <a:lnTo>
                  <a:pt x="9345096" y="2639990"/>
                </a:lnTo>
                <a:lnTo>
                  <a:pt x="0" y="2639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2"/>
          <p:cNvSpPr/>
          <p:nvPr/>
        </p:nvSpPr>
        <p:spPr>
          <a:xfrm>
            <a:off x="3794331" y="622967"/>
            <a:ext cx="1329436" cy="1148301"/>
          </a:xfrm>
          <a:custGeom>
            <a:rect b="b" l="l" r="r" t="t"/>
            <a:pathLst>
              <a:path extrusionOk="0" h="1148301" w="1329436">
                <a:moveTo>
                  <a:pt x="0" y="0"/>
                </a:moveTo>
                <a:lnTo>
                  <a:pt x="1329436" y="0"/>
                </a:lnTo>
                <a:lnTo>
                  <a:pt x="1329436" y="1148301"/>
                </a:lnTo>
                <a:lnTo>
                  <a:pt x="0" y="1148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2"/>
          <p:cNvSpPr/>
          <p:nvPr/>
        </p:nvSpPr>
        <p:spPr>
          <a:xfrm>
            <a:off x="10281096" y="3203604"/>
            <a:ext cx="6978204" cy="3236142"/>
          </a:xfrm>
          <a:custGeom>
            <a:rect b="b" l="l" r="r" t="t"/>
            <a:pathLst>
              <a:path extrusionOk="0" h="3236142" w="6978204">
                <a:moveTo>
                  <a:pt x="0" y="0"/>
                </a:moveTo>
                <a:lnTo>
                  <a:pt x="6978204" y="0"/>
                </a:lnTo>
                <a:lnTo>
                  <a:pt x="6978204" y="3236142"/>
                </a:lnTo>
                <a:lnTo>
                  <a:pt x="0" y="323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2"/>
          <p:cNvSpPr/>
          <p:nvPr/>
        </p:nvSpPr>
        <p:spPr>
          <a:xfrm>
            <a:off x="506179" y="7455411"/>
            <a:ext cx="7736390" cy="1208811"/>
          </a:xfrm>
          <a:custGeom>
            <a:rect b="b" l="l" r="r" t="t"/>
            <a:pathLst>
              <a:path extrusionOk="0" h="1208811" w="7736390">
                <a:moveTo>
                  <a:pt x="0" y="0"/>
                </a:moveTo>
                <a:lnTo>
                  <a:pt x="7736390" y="0"/>
                </a:lnTo>
                <a:lnTo>
                  <a:pt x="7736390" y="1208811"/>
                </a:lnTo>
                <a:lnTo>
                  <a:pt x="0" y="1208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1" name="Google Shape;221;p12"/>
          <p:cNvGrpSpPr/>
          <p:nvPr/>
        </p:nvGrpSpPr>
        <p:grpSpPr>
          <a:xfrm>
            <a:off x="1066117" y="715836"/>
            <a:ext cx="8077883" cy="1770091"/>
            <a:chOff x="0" y="123825"/>
            <a:chExt cx="10770510" cy="2360122"/>
          </a:xfrm>
        </p:grpSpPr>
        <p:sp>
          <p:nvSpPr>
            <p:cNvPr id="222" name="Google Shape;222;p12"/>
            <p:cNvSpPr txBox="1"/>
            <p:nvPr/>
          </p:nvSpPr>
          <p:spPr>
            <a:xfrm>
              <a:off x="0" y="123825"/>
              <a:ext cx="3887828" cy="129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999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COSTOS </a:t>
              </a:r>
              <a:endParaRPr/>
            </a:p>
          </p:txBody>
        </p:sp>
        <p:sp>
          <p:nvSpPr>
            <p:cNvPr id="223" name="Google Shape;223;p12"/>
            <p:cNvSpPr txBox="1"/>
            <p:nvPr/>
          </p:nvSpPr>
          <p:spPr>
            <a:xfrm>
              <a:off x="0" y="1747982"/>
              <a:ext cx="10770510" cy="735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2"/>
          <p:cNvSpPr txBox="1"/>
          <p:nvPr/>
        </p:nvSpPr>
        <p:spPr>
          <a:xfrm>
            <a:off x="1028700" y="2335149"/>
            <a:ext cx="6860698" cy="54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Costo total base esfuerzo hora-persona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10878181" y="2335149"/>
            <a:ext cx="6860698" cy="54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Costos por Fase del Proyecto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506179" y="6584191"/>
            <a:ext cx="6860698" cy="54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Costos total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7E5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3"/>
          <p:cNvGrpSpPr/>
          <p:nvPr/>
        </p:nvGrpSpPr>
        <p:grpSpPr>
          <a:xfrm>
            <a:off x="893809" y="3066878"/>
            <a:ext cx="6379470" cy="3197862"/>
            <a:chOff x="0" y="0"/>
            <a:chExt cx="1680190" cy="842235"/>
          </a:xfrm>
        </p:grpSpPr>
        <p:sp>
          <p:nvSpPr>
            <p:cNvPr id="232" name="Google Shape;232;p13"/>
            <p:cNvSpPr/>
            <p:nvPr/>
          </p:nvSpPr>
          <p:spPr>
            <a:xfrm>
              <a:off x="0" y="0"/>
              <a:ext cx="1680190" cy="842235"/>
            </a:xfrm>
            <a:custGeom>
              <a:rect b="b" l="l" r="r" t="t"/>
              <a:pathLst>
                <a:path extrusionOk="0" h="842235" w="1680190">
                  <a:moveTo>
                    <a:pt x="61892" y="0"/>
                  </a:moveTo>
                  <a:lnTo>
                    <a:pt x="1618298" y="0"/>
                  </a:lnTo>
                  <a:cubicBezTo>
                    <a:pt x="1652480" y="0"/>
                    <a:pt x="1680190" y="27710"/>
                    <a:pt x="1680190" y="61892"/>
                  </a:cubicBezTo>
                  <a:lnTo>
                    <a:pt x="1680190" y="780343"/>
                  </a:lnTo>
                  <a:cubicBezTo>
                    <a:pt x="1680190" y="814525"/>
                    <a:pt x="1652480" y="842235"/>
                    <a:pt x="1618298" y="842235"/>
                  </a:cubicBezTo>
                  <a:lnTo>
                    <a:pt x="61892" y="842235"/>
                  </a:lnTo>
                  <a:cubicBezTo>
                    <a:pt x="27710" y="842235"/>
                    <a:pt x="0" y="814525"/>
                    <a:pt x="0" y="780343"/>
                  </a:cubicBezTo>
                  <a:lnTo>
                    <a:pt x="0" y="61892"/>
                  </a:lnTo>
                  <a:cubicBezTo>
                    <a:pt x="0" y="27710"/>
                    <a:pt x="27710" y="0"/>
                    <a:pt x="61892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0" y="38100"/>
              <a:ext cx="1680190" cy="804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3"/>
          <p:cNvGrpSpPr/>
          <p:nvPr/>
        </p:nvGrpSpPr>
        <p:grpSpPr>
          <a:xfrm>
            <a:off x="11377110" y="3066878"/>
            <a:ext cx="6379470" cy="3197862"/>
            <a:chOff x="0" y="0"/>
            <a:chExt cx="1680190" cy="842235"/>
          </a:xfrm>
        </p:grpSpPr>
        <p:sp>
          <p:nvSpPr>
            <p:cNvPr id="235" name="Google Shape;235;p13"/>
            <p:cNvSpPr/>
            <p:nvPr/>
          </p:nvSpPr>
          <p:spPr>
            <a:xfrm>
              <a:off x="0" y="0"/>
              <a:ext cx="1680190" cy="842235"/>
            </a:xfrm>
            <a:custGeom>
              <a:rect b="b" l="l" r="r" t="t"/>
              <a:pathLst>
                <a:path extrusionOk="0" h="842235" w="1680190">
                  <a:moveTo>
                    <a:pt x="61892" y="0"/>
                  </a:moveTo>
                  <a:lnTo>
                    <a:pt x="1618298" y="0"/>
                  </a:lnTo>
                  <a:cubicBezTo>
                    <a:pt x="1652480" y="0"/>
                    <a:pt x="1680190" y="27710"/>
                    <a:pt x="1680190" y="61892"/>
                  </a:cubicBezTo>
                  <a:lnTo>
                    <a:pt x="1680190" y="780343"/>
                  </a:lnTo>
                  <a:cubicBezTo>
                    <a:pt x="1680190" y="814525"/>
                    <a:pt x="1652480" y="842235"/>
                    <a:pt x="1618298" y="842235"/>
                  </a:cubicBezTo>
                  <a:lnTo>
                    <a:pt x="61892" y="842235"/>
                  </a:lnTo>
                  <a:cubicBezTo>
                    <a:pt x="27710" y="842235"/>
                    <a:pt x="0" y="814525"/>
                    <a:pt x="0" y="780343"/>
                  </a:cubicBezTo>
                  <a:lnTo>
                    <a:pt x="0" y="61892"/>
                  </a:lnTo>
                  <a:cubicBezTo>
                    <a:pt x="0" y="27710"/>
                    <a:pt x="27710" y="0"/>
                    <a:pt x="61892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 txBox="1"/>
            <p:nvPr/>
          </p:nvSpPr>
          <p:spPr>
            <a:xfrm>
              <a:off x="0" y="38100"/>
              <a:ext cx="1680190" cy="804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/>
          <p:cNvSpPr/>
          <p:nvPr/>
        </p:nvSpPr>
        <p:spPr>
          <a:xfrm>
            <a:off x="11853414" y="3995057"/>
            <a:ext cx="2100404" cy="955684"/>
          </a:xfrm>
          <a:custGeom>
            <a:rect b="b" l="l" r="r" t="t"/>
            <a:pathLst>
              <a:path extrusionOk="0" h="955684" w="2100404">
                <a:moveTo>
                  <a:pt x="0" y="0"/>
                </a:moveTo>
                <a:lnTo>
                  <a:pt x="2100404" y="0"/>
                </a:lnTo>
                <a:lnTo>
                  <a:pt x="2100404" y="955684"/>
                </a:lnTo>
                <a:lnTo>
                  <a:pt x="0" y="955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3"/>
          <p:cNvSpPr/>
          <p:nvPr/>
        </p:nvSpPr>
        <p:spPr>
          <a:xfrm>
            <a:off x="14672420" y="3736993"/>
            <a:ext cx="1054096" cy="1054096"/>
          </a:xfrm>
          <a:custGeom>
            <a:rect b="b" l="l" r="r" t="t"/>
            <a:pathLst>
              <a:path extrusionOk="0" h="1054096" w="1054096">
                <a:moveTo>
                  <a:pt x="0" y="0"/>
                </a:moveTo>
                <a:lnTo>
                  <a:pt x="1054095" y="0"/>
                </a:lnTo>
                <a:lnTo>
                  <a:pt x="1054095" y="1054096"/>
                </a:lnTo>
                <a:lnTo>
                  <a:pt x="0" y="10540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3"/>
          <p:cNvSpPr/>
          <p:nvPr/>
        </p:nvSpPr>
        <p:spPr>
          <a:xfrm>
            <a:off x="15726515" y="4791089"/>
            <a:ext cx="1532785" cy="1249463"/>
          </a:xfrm>
          <a:custGeom>
            <a:rect b="b" l="l" r="r" t="t"/>
            <a:pathLst>
              <a:path extrusionOk="0" h="1249463" w="1532785">
                <a:moveTo>
                  <a:pt x="0" y="0"/>
                </a:moveTo>
                <a:lnTo>
                  <a:pt x="1532785" y="0"/>
                </a:lnTo>
                <a:lnTo>
                  <a:pt x="1532785" y="1249462"/>
                </a:lnTo>
                <a:lnTo>
                  <a:pt x="0" y="12494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3"/>
          <p:cNvSpPr/>
          <p:nvPr/>
        </p:nvSpPr>
        <p:spPr>
          <a:xfrm>
            <a:off x="1291498" y="3480517"/>
            <a:ext cx="1185292" cy="1185292"/>
          </a:xfrm>
          <a:custGeom>
            <a:rect b="b" l="l" r="r" t="t"/>
            <a:pathLst>
              <a:path extrusionOk="0" h="1185292" w="1185292">
                <a:moveTo>
                  <a:pt x="0" y="0"/>
                </a:moveTo>
                <a:lnTo>
                  <a:pt x="1185292" y="0"/>
                </a:lnTo>
                <a:lnTo>
                  <a:pt x="1185292" y="1185292"/>
                </a:lnTo>
                <a:lnTo>
                  <a:pt x="0" y="1185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3"/>
          <p:cNvSpPr/>
          <p:nvPr/>
        </p:nvSpPr>
        <p:spPr>
          <a:xfrm>
            <a:off x="1991304" y="5028016"/>
            <a:ext cx="970972" cy="970972"/>
          </a:xfrm>
          <a:custGeom>
            <a:rect b="b" l="l" r="r" t="t"/>
            <a:pathLst>
              <a:path extrusionOk="0" h="970972" w="970972">
                <a:moveTo>
                  <a:pt x="0" y="0"/>
                </a:moveTo>
                <a:lnTo>
                  <a:pt x="970972" y="0"/>
                </a:lnTo>
                <a:lnTo>
                  <a:pt x="970972" y="970972"/>
                </a:lnTo>
                <a:lnTo>
                  <a:pt x="0" y="970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3"/>
          <p:cNvSpPr/>
          <p:nvPr/>
        </p:nvSpPr>
        <p:spPr>
          <a:xfrm>
            <a:off x="3547901" y="3325654"/>
            <a:ext cx="1645355" cy="822678"/>
          </a:xfrm>
          <a:custGeom>
            <a:rect b="b" l="l" r="r" t="t"/>
            <a:pathLst>
              <a:path extrusionOk="0" h="822678" w="1645355">
                <a:moveTo>
                  <a:pt x="0" y="0"/>
                </a:moveTo>
                <a:lnTo>
                  <a:pt x="1645355" y="0"/>
                </a:lnTo>
                <a:lnTo>
                  <a:pt x="1645355" y="822678"/>
                </a:lnTo>
                <a:lnTo>
                  <a:pt x="0" y="822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3"/>
          <p:cNvSpPr/>
          <p:nvPr/>
        </p:nvSpPr>
        <p:spPr>
          <a:xfrm>
            <a:off x="5430056" y="3888919"/>
            <a:ext cx="1531588" cy="518825"/>
          </a:xfrm>
          <a:custGeom>
            <a:rect b="b" l="l" r="r" t="t"/>
            <a:pathLst>
              <a:path extrusionOk="0" h="518825" w="1531588">
                <a:moveTo>
                  <a:pt x="0" y="0"/>
                </a:moveTo>
                <a:lnTo>
                  <a:pt x="1531588" y="0"/>
                </a:lnTo>
                <a:lnTo>
                  <a:pt x="1531588" y="518826"/>
                </a:lnTo>
                <a:lnTo>
                  <a:pt x="0" y="518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3"/>
          <p:cNvSpPr/>
          <p:nvPr/>
        </p:nvSpPr>
        <p:spPr>
          <a:xfrm>
            <a:off x="5782773" y="4832652"/>
            <a:ext cx="826154" cy="1166336"/>
          </a:xfrm>
          <a:custGeom>
            <a:rect b="b" l="l" r="r" t="t"/>
            <a:pathLst>
              <a:path extrusionOk="0" h="1166336" w="826154">
                <a:moveTo>
                  <a:pt x="0" y="0"/>
                </a:moveTo>
                <a:lnTo>
                  <a:pt x="826154" y="0"/>
                </a:lnTo>
                <a:lnTo>
                  <a:pt x="826154" y="1166336"/>
                </a:lnTo>
                <a:lnTo>
                  <a:pt x="0" y="1166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5" name="Google Shape;245;p13"/>
          <p:cNvGrpSpPr/>
          <p:nvPr/>
        </p:nvGrpSpPr>
        <p:grpSpPr>
          <a:xfrm>
            <a:off x="5954265" y="7382036"/>
            <a:ext cx="6379470" cy="2569351"/>
            <a:chOff x="0" y="0"/>
            <a:chExt cx="1680190" cy="676702"/>
          </a:xfrm>
        </p:grpSpPr>
        <p:sp>
          <p:nvSpPr>
            <p:cNvPr id="246" name="Google Shape;246;p13"/>
            <p:cNvSpPr/>
            <p:nvPr/>
          </p:nvSpPr>
          <p:spPr>
            <a:xfrm>
              <a:off x="0" y="0"/>
              <a:ext cx="1680190" cy="676702"/>
            </a:xfrm>
            <a:custGeom>
              <a:rect b="b" l="l" r="r" t="t"/>
              <a:pathLst>
                <a:path extrusionOk="0" h="676702" w="1680190">
                  <a:moveTo>
                    <a:pt x="61892" y="0"/>
                  </a:moveTo>
                  <a:lnTo>
                    <a:pt x="1618298" y="0"/>
                  </a:lnTo>
                  <a:cubicBezTo>
                    <a:pt x="1652480" y="0"/>
                    <a:pt x="1680190" y="27710"/>
                    <a:pt x="1680190" y="61892"/>
                  </a:cubicBezTo>
                  <a:lnTo>
                    <a:pt x="1680190" y="614810"/>
                  </a:lnTo>
                  <a:cubicBezTo>
                    <a:pt x="1680190" y="648992"/>
                    <a:pt x="1652480" y="676702"/>
                    <a:pt x="1618298" y="676702"/>
                  </a:cubicBezTo>
                  <a:lnTo>
                    <a:pt x="61892" y="676702"/>
                  </a:lnTo>
                  <a:cubicBezTo>
                    <a:pt x="27710" y="676702"/>
                    <a:pt x="0" y="648992"/>
                    <a:pt x="0" y="614810"/>
                  </a:cubicBezTo>
                  <a:lnTo>
                    <a:pt x="0" y="61892"/>
                  </a:lnTo>
                  <a:cubicBezTo>
                    <a:pt x="0" y="27710"/>
                    <a:pt x="27710" y="0"/>
                    <a:pt x="61892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 txBox="1"/>
            <p:nvPr/>
          </p:nvSpPr>
          <p:spPr>
            <a:xfrm>
              <a:off x="0" y="38100"/>
              <a:ext cx="1680190" cy="638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3"/>
          <p:cNvSpPr/>
          <p:nvPr/>
        </p:nvSpPr>
        <p:spPr>
          <a:xfrm>
            <a:off x="6496200" y="7939157"/>
            <a:ext cx="1912093" cy="564067"/>
          </a:xfrm>
          <a:custGeom>
            <a:rect b="b" l="l" r="r" t="t"/>
            <a:pathLst>
              <a:path extrusionOk="0" h="564067" w="1912093">
                <a:moveTo>
                  <a:pt x="0" y="0"/>
                </a:moveTo>
                <a:lnTo>
                  <a:pt x="1912092" y="0"/>
                </a:lnTo>
                <a:lnTo>
                  <a:pt x="1912092" y="564067"/>
                </a:lnTo>
                <a:lnTo>
                  <a:pt x="0" y="564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3"/>
          <p:cNvSpPr/>
          <p:nvPr/>
        </p:nvSpPr>
        <p:spPr>
          <a:xfrm>
            <a:off x="9144000" y="8646078"/>
            <a:ext cx="2663385" cy="898893"/>
          </a:xfrm>
          <a:custGeom>
            <a:rect b="b" l="l" r="r" t="t"/>
            <a:pathLst>
              <a:path extrusionOk="0" h="898893" w="2663385">
                <a:moveTo>
                  <a:pt x="0" y="0"/>
                </a:moveTo>
                <a:lnTo>
                  <a:pt x="2663385" y="0"/>
                </a:lnTo>
                <a:lnTo>
                  <a:pt x="2663385" y="898893"/>
                </a:lnTo>
                <a:lnTo>
                  <a:pt x="0" y="898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3"/>
          <p:cNvSpPr/>
          <p:nvPr/>
        </p:nvSpPr>
        <p:spPr>
          <a:xfrm>
            <a:off x="3749248" y="4665809"/>
            <a:ext cx="901803" cy="901803"/>
          </a:xfrm>
          <a:custGeom>
            <a:rect b="b" l="l" r="r" t="t"/>
            <a:pathLst>
              <a:path extrusionOk="0" h="901803" w="901803">
                <a:moveTo>
                  <a:pt x="0" y="0"/>
                </a:moveTo>
                <a:lnTo>
                  <a:pt x="901803" y="0"/>
                </a:lnTo>
                <a:lnTo>
                  <a:pt x="901803" y="901803"/>
                </a:lnTo>
                <a:lnTo>
                  <a:pt x="0" y="901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3"/>
          <p:cNvSpPr txBox="1"/>
          <p:nvPr/>
        </p:nvSpPr>
        <p:spPr>
          <a:xfrm>
            <a:off x="893809" y="650070"/>
            <a:ext cx="7514484" cy="92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44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STACK TECNOLOGICOS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13130842" y="2268713"/>
            <a:ext cx="2872006" cy="535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BACKEND</a:t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2962276" y="2343227"/>
            <a:ext cx="2219425" cy="535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FRONTEND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7904048" y="6722907"/>
            <a:ext cx="2479905" cy="535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EXTENSIONES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04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4"/>
          <p:cNvGrpSpPr/>
          <p:nvPr/>
        </p:nvGrpSpPr>
        <p:grpSpPr>
          <a:xfrm>
            <a:off x="3198324" y="2955072"/>
            <a:ext cx="11891353" cy="3722001"/>
            <a:chOff x="0" y="161925"/>
            <a:chExt cx="15855137" cy="4962669"/>
          </a:xfrm>
        </p:grpSpPr>
        <p:sp>
          <p:nvSpPr>
            <p:cNvPr id="260" name="Google Shape;260;p14"/>
            <p:cNvSpPr txBox="1"/>
            <p:nvPr/>
          </p:nvSpPr>
          <p:spPr>
            <a:xfrm>
              <a:off x="0" y="161925"/>
              <a:ext cx="15855137" cy="3155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0" u="none" cap="none" strike="noStrike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DEMOSTRACION DEL PROYECTO</a:t>
              </a:r>
              <a:endParaRPr/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0" y="3614136"/>
              <a:ext cx="15855137" cy="1510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50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4"/>
          <p:cNvSpPr/>
          <p:nvPr/>
        </p:nvSpPr>
        <p:spPr>
          <a:xfrm rot="-1249852">
            <a:off x="-4371447" y="5669907"/>
            <a:ext cx="9151875" cy="8508648"/>
          </a:xfrm>
          <a:custGeom>
            <a:rect b="b" l="l" r="r" t="t"/>
            <a:pathLst>
              <a:path extrusionOk="0" h="8508648" w="9151875">
                <a:moveTo>
                  <a:pt x="0" y="0"/>
                </a:moveTo>
                <a:lnTo>
                  <a:pt x="9151875" y="0"/>
                </a:lnTo>
                <a:lnTo>
                  <a:pt x="9151875" y="8508649"/>
                </a:lnTo>
                <a:lnTo>
                  <a:pt x="0" y="8508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4"/>
          <p:cNvSpPr/>
          <p:nvPr/>
        </p:nvSpPr>
        <p:spPr>
          <a:xfrm>
            <a:off x="14577865" y="-2985608"/>
            <a:ext cx="8635554" cy="8028617"/>
          </a:xfrm>
          <a:custGeom>
            <a:rect b="b" l="l" r="r" t="t"/>
            <a:pathLst>
              <a:path extrusionOk="0" h="8028617" w="8635554">
                <a:moveTo>
                  <a:pt x="0" y="0"/>
                </a:moveTo>
                <a:lnTo>
                  <a:pt x="8635554" y="0"/>
                </a:lnTo>
                <a:lnTo>
                  <a:pt x="8635554" y="8028616"/>
                </a:lnTo>
                <a:lnTo>
                  <a:pt x="0" y="8028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4"/>
          <p:cNvSpPr/>
          <p:nvPr/>
        </p:nvSpPr>
        <p:spPr>
          <a:xfrm>
            <a:off x="7759266" y="-6746374"/>
            <a:ext cx="2769469" cy="8028617"/>
          </a:xfrm>
          <a:custGeom>
            <a:rect b="b" l="l" r="r" t="t"/>
            <a:pathLst>
              <a:path extrusionOk="0" h="8028617" w="2769469">
                <a:moveTo>
                  <a:pt x="0" y="0"/>
                </a:moveTo>
                <a:lnTo>
                  <a:pt x="2769468" y="0"/>
                </a:lnTo>
                <a:lnTo>
                  <a:pt x="2769468" y="8028617"/>
                </a:lnTo>
                <a:lnTo>
                  <a:pt x="0" y="8028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4930" r="-86858" t="0"/>
            </a:stretch>
          </a:blipFill>
          <a:ln>
            <a:noFill/>
          </a:ln>
        </p:spPr>
      </p:sp>
      <p:grpSp>
        <p:nvGrpSpPr>
          <p:cNvPr id="265" name="Google Shape;265;p14"/>
          <p:cNvGrpSpPr/>
          <p:nvPr/>
        </p:nvGrpSpPr>
        <p:grpSpPr>
          <a:xfrm>
            <a:off x="7464873" y="5875516"/>
            <a:ext cx="3358255" cy="1094286"/>
            <a:chOff x="0" y="0"/>
            <a:chExt cx="884479" cy="288207"/>
          </a:xfrm>
        </p:grpSpPr>
        <p:sp>
          <p:nvSpPr>
            <p:cNvPr id="266" name="Google Shape;266;p14"/>
            <p:cNvSpPr/>
            <p:nvPr/>
          </p:nvSpPr>
          <p:spPr>
            <a:xfrm>
              <a:off x="0" y="0"/>
              <a:ext cx="884479" cy="288207"/>
            </a:xfrm>
            <a:custGeom>
              <a:rect b="b" l="l" r="r" t="t"/>
              <a:pathLst>
                <a:path extrusionOk="0" h="288207" w="884479">
                  <a:moveTo>
                    <a:pt x="117572" y="0"/>
                  </a:moveTo>
                  <a:lnTo>
                    <a:pt x="766906" y="0"/>
                  </a:lnTo>
                  <a:cubicBezTo>
                    <a:pt x="798088" y="0"/>
                    <a:pt x="827993" y="12387"/>
                    <a:pt x="850042" y="34436"/>
                  </a:cubicBezTo>
                  <a:cubicBezTo>
                    <a:pt x="872092" y="56485"/>
                    <a:pt x="884479" y="86390"/>
                    <a:pt x="884479" y="117572"/>
                  </a:cubicBezTo>
                  <a:lnTo>
                    <a:pt x="884479" y="170635"/>
                  </a:lnTo>
                  <a:cubicBezTo>
                    <a:pt x="884479" y="201817"/>
                    <a:pt x="872092" y="231722"/>
                    <a:pt x="850042" y="253771"/>
                  </a:cubicBezTo>
                  <a:cubicBezTo>
                    <a:pt x="827993" y="275820"/>
                    <a:pt x="798088" y="288207"/>
                    <a:pt x="766906" y="288207"/>
                  </a:cubicBezTo>
                  <a:lnTo>
                    <a:pt x="117572" y="288207"/>
                  </a:lnTo>
                  <a:cubicBezTo>
                    <a:pt x="86390" y="288207"/>
                    <a:pt x="56485" y="275820"/>
                    <a:pt x="34436" y="253771"/>
                  </a:cubicBezTo>
                  <a:cubicBezTo>
                    <a:pt x="12387" y="231722"/>
                    <a:pt x="0" y="201817"/>
                    <a:pt x="0" y="170635"/>
                  </a:cubicBezTo>
                  <a:lnTo>
                    <a:pt x="0" y="117572"/>
                  </a:lnTo>
                  <a:cubicBezTo>
                    <a:pt x="0" y="86390"/>
                    <a:pt x="12387" y="56485"/>
                    <a:pt x="34436" y="34436"/>
                  </a:cubicBezTo>
                  <a:cubicBezTo>
                    <a:pt x="56485" y="12387"/>
                    <a:pt x="86390" y="0"/>
                    <a:pt x="117572" y="0"/>
                  </a:cubicBezTo>
                  <a:close/>
                </a:path>
              </a:pathLst>
            </a:custGeom>
            <a:solidFill>
              <a:srgbClr val="FB7E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0" y="38100"/>
              <a:ext cx="884479" cy="250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4"/>
          <p:cNvSpPr/>
          <p:nvPr/>
        </p:nvSpPr>
        <p:spPr>
          <a:xfrm>
            <a:off x="8746607" y="6031768"/>
            <a:ext cx="794787" cy="781781"/>
          </a:xfrm>
          <a:custGeom>
            <a:rect b="b" l="l" r="r" t="t"/>
            <a:pathLst>
              <a:path extrusionOk="0" h="781781" w="794787">
                <a:moveTo>
                  <a:pt x="0" y="0"/>
                </a:moveTo>
                <a:lnTo>
                  <a:pt x="794786" y="0"/>
                </a:lnTo>
                <a:lnTo>
                  <a:pt x="794786" y="781782"/>
                </a:lnTo>
                <a:lnTo>
                  <a:pt x="0" y="781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